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1037" y="2792908"/>
            <a:ext cx="3209925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9812" y="5905351"/>
            <a:ext cx="7572375" cy="60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34475" y="576262"/>
            <a:ext cx="24860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200" i="0" u="none">
                <a:solidFill>
                  <a:srgbClr val="134E5E"/>
                </a:solidFill>
                <a:latin typeface="Lato"/>
              </a:rPr>
              <a:t>Internship Assessment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0431" y="3135808"/>
            <a:ext cx="9091136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750"/>
              </a:lnSpc>
            </a:pPr>
            <a:r>
              <a:rPr b="1" sz="3000" i="0" u="none">
                <a:solidFill>
                  <a:srgbClr val="0B2545"/>
                </a:solidFill>
                <a:latin typeface="Poppins"/>
              </a:rPr>
              <a:t>Social Media Strategy &amp; Digital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6887" y="3793033"/>
            <a:ext cx="8658225" cy="262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66"/>
              </a:lnSpc>
            </a:pPr>
            <a:r>
              <a:rPr b="0" sz="1425" i="0" u="none">
                <a:solidFill>
                  <a:srgbClr val="475569"/>
                </a:solidFill>
                <a:latin typeface="Lato Medium"/>
              </a:rPr>
              <a:t>A Comprehensive Study on Brand Growth, Content Funnels, and Community Operations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42900"/>
            <a:ext cx="2038350" cy="647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52725" y="414337"/>
            <a:ext cx="2781300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Lato SemiBold"/>
              </a:rPr>
              <a:t>GREATER NOIDA • ESTABLISHED 1993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3437" y="2859583"/>
            <a:ext cx="133350" cy="123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09837" y="6048226"/>
            <a:ext cx="15811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Lato"/>
              </a:rPr>
              <a:t>STUDENT 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9837" y="6200626"/>
            <a:ext cx="15811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B2545"/>
                </a:solidFill>
                <a:latin typeface="Lato"/>
              </a:rPr>
              <a:t>Shivansh Srivastav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8637" y="6048226"/>
            <a:ext cx="15811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Lato"/>
              </a:rPr>
              <a:t>ENROLLMENT NO.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8637" y="6200626"/>
            <a:ext cx="15811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B2545"/>
                </a:solidFill>
                <a:latin typeface="Lato"/>
              </a:rPr>
              <a:t>[Enrollment Number]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7437" y="6048226"/>
            <a:ext cx="15811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Lato"/>
              </a:rPr>
              <a:t>PROGRAM &amp; SEMESTER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7437" y="6200626"/>
            <a:ext cx="15811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B2545"/>
                </a:solidFill>
                <a:latin typeface="Lato"/>
              </a:rPr>
              <a:t>B.Tech CSE • Semester 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6237" y="6048226"/>
            <a:ext cx="15906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Lato"/>
              </a:rPr>
              <a:t>HOST ORGANIZATION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6237" y="6200626"/>
            <a:ext cx="1590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B2545"/>
                </a:solidFill>
                <a:latin typeface="Lato"/>
              </a:rPr>
              <a:t>Fokuszy (Fokuszy.in)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52725" y="414337"/>
            <a:ext cx="292036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B2545"/>
                </a:solidFill>
                <a:latin typeface="Cinzel"/>
              </a:rPr>
              <a:t>IILM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579042"/>
            <a:ext cx="2607468" cy="231695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9468" y="2579042"/>
            <a:ext cx="2607468" cy="231695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2" y="2579042"/>
            <a:ext cx="2607468" cy="231695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0656" y="2579042"/>
            <a:ext cx="2607468" cy="23169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2473" y="3388667"/>
            <a:ext cx="2170271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425" i="0" u="none">
                <a:solidFill>
                  <a:srgbClr val="0B2545"/>
                </a:solidFill>
                <a:latin typeface="Poppins"/>
              </a:rPr>
              <a:t>1. Organization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3760142"/>
            <a:ext cx="2207418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31"/>
              </a:lnSpc>
            </a:pPr>
            <a:r>
              <a:rPr b="0" sz="1125" i="0" u="none">
                <a:solidFill>
                  <a:srgbClr val="334155"/>
                </a:solidFill>
                <a:latin typeface="Lato"/>
              </a:rPr>
              <a:t>Background of Fokuszy, business objectives, and service ecosystem overview.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4308" y="3388667"/>
            <a:ext cx="2317789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425" i="0" u="none">
                <a:solidFill>
                  <a:srgbClr val="0B2545"/>
                </a:solidFill>
                <a:latin typeface="Poppins"/>
              </a:rPr>
              <a:t>2. Role &amp; Responsibilities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9493" y="4036367"/>
            <a:ext cx="2207418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31"/>
              </a:lnSpc>
            </a:pPr>
            <a:r>
              <a:rPr b="0" sz="1125" i="0" u="none">
                <a:solidFill>
                  <a:srgbClr val="334155"/>
                </a:solidFill>
                <a:latin typeface="Lato"/>
              </a:rPr>
              <a:t>Scope of duties as Social Media Manager, goals, and daily operational deliverables.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3652" y="3388667"/>
            <a:ext cx="2310288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425" i="0" u="none">
                <a:solidFill>
                  <a:srgbClr val="0B2545"/>
                </a:solidFill>
                <a:latin typeface="Poppins"/>
              </a:rPr>
              <a:t>3. Strategy &amp;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5087" y="3760142"/>
            <a:ext cx="2207418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31"/>
              </a:lnSpc>
            </a:pPr>
            <a:r>
              <a:rPr b="0" sz="1125" i="0" u="none">
                <a:solidFill>
                  <a:srgbClr val="334155"/>
                </a:solidFill>
                <a:latin typeface="Lato"/>
              </a:rPr>
              <a:t>Content calendar, visual storytelling, and data-driven engagement funnels.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05495" y="3388667"/>
            <a:ext cx="2317789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425" i="0" u="none">
                <a:solidFill>
                  <a:srgbClr val="0B2545"/>
                </a:solidFill>
                <a:latin typeface="Poppins"/>
              </a:rPr>
              <a:t>4. Impact &amp;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0681" y="4036367"/>
            <a:ext cx="2207418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31"/>
              </a:lnSpc>
            </a:pPr>
            <a:r>
              <a:rPr b="0" sz="1125" i="0" u="none">
                <a:solidFill>
                  <a:srgbClr val="334155"/>
                </a:solidFill>
                <a:latin typeface="Lato"/>
              </a:rPr>
              <a:t>KPI outcomes, key technical learnings, and formal certificate sign-off.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9496" y="2864792"/>
            <a:ext cx="276225" cy="3619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2228" y="2864792"/>
            <a:ext cx="361950" cy="3619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7821" y="2864792"/>
            <a:ext cx="361950" cy="3619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83415" y="2864792"/>
            <a:ext cx="361950" cy="3619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76275" y="428625"/>
            <a:ext cx="11515725" cy="38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B2545"/>
                </a:solidFill>
                <a:latin typeface="Poppins"/>
              </a:rPr>
              <a:t>Presentation Agenda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3875" y="428625"/>
            <a:ext cx="57150" cy="388590"/>
          </a:xfrm>
          <a:prstGeom prst="rect">
            <a:avLst/>
          </a:prstGeom>
          <a:solidFill>
            <a:srgbClr val="134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23020"/>
            <a:ext cx="5381625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3875" y="2180034"/>
            <a:ext cx="5381625" cy="7041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Fokuszy (Fokuszy.in)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is a dynamic digital branding and media consultancy focused on empowering modern enterprises through targeted online positioning.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125" y="3044398"/>
            <a:ext cx="952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3046065"/>
            <a:ext cx="5191125" cy="469403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Core Domain: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Content marketing, visual design systems, and digital communication.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125" y="3647152"/>
            <a:ext cx="952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4375" y="3648819"/>
            <a:ext cx="5191125" cy="469403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Mission: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Transforming brand narratives into high-converting, engaged digital communities.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" y="4249906"/>
            <a:ext cx="952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4375" y="4251573"/>
            <a:ext cx="5191125" cy="469403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Work Environment: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Collaborative, agile, and iterative remote operations aligned with real-time market trends.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125" y="4852660"/>
            <a:ext cx="952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375" y="4854326"/>
            <a:ext cx="5191125" cy="469403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Supervision: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Guided under executive leadership with regular milestone checks by Kashish Panday (HR) and Manish Bhatt (General Manager).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32545"/>
            <a:ext cx="5362575" cy="34099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6275" y="428625"/>
            <a:ext cx="11515725" cy="38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B2545"/>
                </a:solidFill>
                <a:latin typeface="Poppins"/>
              </a:rPr>
              <a:t>About Host Organization: Fokuszy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3875" y="428625"/>
            <a:ext cx="57150" cy="388590"/>
          </a:xfrm>
          <a:prstGeom prst="rect">
            <a:avLst/>
          </a:prstGeom>
          <a:solidFill>
            <a:srgbClr val="134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338089"/>
            <a:ext cx="5429250" cy="279886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338089"/>
            <a:ext cx="5429250" cy="27988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3950" y="2633364"/>
            <a:ext cx="4760595" cy="314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134E5E"/>
                </a:solidFill>
                <a:latin typeface="Poppins"/>
              </a:rPr>
              <a:t>Strategic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" y="3109614"/>
            <a:ext cx="4838700" cy="7041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Expand Organic Reach: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Develop and deploy consistent editorial roadmaps designed to increase brand discoverability across high-intent channels.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3975645"/>
            <a:ext cx="4838700" cy="7041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Audience Retention: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Build interactive hooks, community polls, and discussion threads to convert passive viewers into active community followers.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38950" y="2633364"/>
            <a:ext cx="4760595" cy="314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134E5E"/>
                </a:solidFill>
                <a:latin typeface="Poppins"/>
              </a:rPr>
              <a:t>Operational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3109614"/>
            <a:ext cx="4838700" cy="4694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Content Pipeline Management: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Draft, schedule, and cross-promote monthly content buckets adhering to firm aesthetic standards.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3740943"/>
            <a:ext cx="4838700" cy="7041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Analytics &amp; Continuous Iteration: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Synthesize engagement dashboards to detect top-performing post categories and refine weekly schedules.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2685752"/>
            <a:ext cx="2095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2685752"/>
            <a:ext cx="209550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6275" y="428625"/>
            <a:ext cx="11515725" cy="38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B2545"/>
                </a:solidFill>
                <a:latin typeface="Poppins"/>
              </a:rPr>
              <a:t>Internship Objectives &amp; Scope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3875" y="428625"/>
            <a:ext cx="57150" cy="388590"/>
          </a:xfrm>
          <a:prstGeom prst="rect">
            <a:avLst/>
          </a:prstGeom>
          <a:solidFill>
            <a:srgbClr val="134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24000" y="2573238"/>
            <a:ext cx="9572625" cy="4694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Content Ideation &amp; Scheduling: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Curated weekly content grids including carousels, informative single-image posts, and concise video hooks aligned with brand guidelines.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0" y="3214092"/>
            <a:ext cx="9572625" cy="4694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Copywriting &amp; CTA Framing: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Authored conversion-focused captions paired with targeted hashtag research to optimize organic reach and audience 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4000" y="3854946"/>
            <a:ext cx="9572625" cy="2347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Community Interactivity: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Actively monitored inbound comments, mentions, and inquiries to maintain an active, credible social voice.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0" y="4261098"/>
            <a:ext cx="9572625" cy="4694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Cross-Department Coordination: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Partnered closely with design leads and senior leadership to align weekly campaign rollouts with strategic firm milestones.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" y="2597050"/>
            <a:ext cx="209550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" y="3237904"/>
            <a:ext cx="209550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" y="3878758"/>
            <a:ext cx="20955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" y="4284910"/>
            <a:ext cx="209550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6275" y="428625"/>
            <a:ext cx="11515725" cy="38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B2545"/>
                </a:solidFill>
                <a:latin typeface="Poppins"/>
              </a:rPr>
              <a:t>Key Responsibilities &amp; Deliverables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3875" y="428625"/>
            <a:ext cx="57150" cy="388590"/>
          </a:xfrm>
          <a:prstGeom prst="rect">
            <a:avLst/>
          </a:prstGeom>
          <a:solidFill>
            <a:srgbClr val="134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023020"/>
            <a:ext cx="5381625" cy="3429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032545"/>
            <a:ext cx="5362575" cy="340995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86500" y="1997422"/>
          <a:ext cx="5381624" cy="3480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268462"/>
                <a:gridCol w="1595735"/>
                <a:gridCol w="2517427"/>
              </a:tblGrid>
              <a:tr h="696039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B2545"/>
                          </a:solidFill>
                          <a:latin typeface="Poppins SemiBold"/>
                        </a:rPr>
                        <a:t>Category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B2545"/>
                          </a:solidFill>
                          <a:latin typeface="Poppins SemiBold"/>
                        </a:rPr>
                        <a:t>Primary Platforms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B2545"/>
                          </a:solidFill>
                          <a:latin typeface="Poppins SemiBold"/>
                        </a:rPr>
                        <a:t>Application Scope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696039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Lato"/>
                        </a:rPr>
                        <a:t>Asset Design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Canva, Adobe Suite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Post graphics, banners, and typography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96039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Lato"/>
                        </a:rPr>
                        <a:t>Scheduling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Meta Business Suite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Queue management, automated publishing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96039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Lato"/>
                        </a:rPr>
                        <a:t>Data Analytics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Platform Insights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CTR, impressions, reach audit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9604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Lato"/>
                        </a:rPr>
                        <a:t>Organization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Notion, Google Sheets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Editorial calendar &amp; asset archives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286500" y="2701081"/>
            <a:ext cx="12684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54962" y="2701081"/>
            <a:ext cx="15957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50697" y="2701081"/>
            <a:ext cx="25174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86500" y="3391644"/>
            <a:ext cx="12684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54962" y="3391644"/>
            <a:ext cx="15957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50697" y="3391644"/>
            <a:ext cx="25174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86500" y="4082206"/>
            <a:ext cx="12684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54962" y="4082206"/>
            <a:ext cx="15957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50697" y="4082206"/>
            <a:ext cx="25174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86500" y="4772769"/>
            <a:ext cx="12684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54962" y="4772769"/>
            <a:ext cx="15957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50697" y="4772769"/>
            <a:ext cx="25174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86500" y="5463331"/>
            <a:ext cx="12684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54962" y="5463331"/>
            <a:ext cx="15957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50697" y="5463331"/>
            <a:ext cx="25174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275" y="428625"/>
            <a:ext cx="11515725" cy="38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B2545"/>
                </a:solidFill>
                <a:latin typeface="Poppins"/>
              </a:rPr>
              <a:t>Tools &amp; Software Stack Utilized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3875" y="428625"/>
            <a:ext cx="57150" cy="388590"/>
          </a:xfrm>
          <a:prstGeom prst="rect">
            <a:avLst/>
          </a:prstGeom>
          <a:solidFill>
            <a:srgbClr val="134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045815"/>
            <a:ext cx="11144250" cy="53835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3875" y="4450556"/>
            <a:ext cx="11144250" cy="4694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48"/>
              </a:lnSpc>
            </a:pPr>
            <a:r>
              <a:rPr b="0" sz="1275" i="1" u="none">
                <a:solidFill>
                  <a:srgbClr val="334155"/>
                </a:solidFill>
                <a:latin typeface="Lato"/>
              </a:rPr>
              <a:t>Metrics evaluated across June 15 – July 15, 2026 tenure, indicating consistent performance growth resulting from targeted content themes and improved publishing cadence.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275" y="428625"/>
            <a:ext cx="11515725" cy="38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B2545"/>
                </a:solidFill>
                <a:latin typeface="Poppins"/>
              </a:rPr>
              <a:t>Campaign Performance &amp; Metric Growth</a:t>
            </a:r>
          </a:p>
        </p:txBody>
      </p:sp>
      <p:sp>
        <p:nvSpPr>
          <p:cNvPr id="6" name="Rectangle 5"/>
          <p:cNvSpPr/>
          <p:nvPr/>
        </p:nvSpPr>
        <p:spPr>
          <a:xfrm>
            <a:off x="523875" y="428625"/>
            <a:ext cx="57150" cy="388590"/>
          </a:xfrm>
          <a:prstGeom prst="rect">
            <a:avLst/>
          </a:prstGeom>
          <a:solidFill>
            <a:srgbClr val="134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851695"/>
            <a:ext cx="4234755" cy="1771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9150" y="3146970"/>
            <a:ext cx="3644205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6750"/>
              </a:lnSpc>
            </a:pPr>
            <a:r>
              <a:rPr b="1" sz="6750" i="0" u="none">
                <a:solidFill>
                  <a:srgbClr val="15803D"/>
                </a:solidFill>
                <a:latin typeface="Poppins"/>
              </a:rPr>
              <a:t>3.2x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150" y="4099470"/>
            <a:ext cx="364420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66534"/>
                </a:solidFill>
                <a:latin typeface="Lato"/>
              </a:rPr>
              <a:t>Organic Engagement Lift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4880" y="2839491"/>
            <a:ext cx="6754906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B2545"/>
                </a:solidFill>
                <a:latin typeface="Poppins"/>
              </a:rPr>
              <a:t>Audience Growth Through Structured Campaigns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4880" y="3372891"/>
            <a:ext cx="6433244" cy="4694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By transitioning from ad-hoc posting to structured content pillars (Industry Insights, Interactive Carousels, and Brand Culture), audience responses improved significantly.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4880" y="4004220"/>
            <a:ext cx="6433244" cy="4694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The structured calendar allowed Fokuszy to maintain high topical relevance, generating higher organic shares and consistent profile visitation during the internship period.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275" y="428625"/>
            <a:ext cx="11515725" cy="38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B2545"/>
                </a:solidFill>
                <a:latin typeface="Poppins"/>
              </a:rPr>
              <a:t>Key Measurable Outcome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3875" y="428625"/>
            <a:ext cx="57150" cy="388590"/>
          </a:xfrm>
          <a:prstGeom prst="rect">
            <a:avLst/>
          </a:prstGeom>
          <a:solidFill>
            <a:srgbClr val="134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717155"/>
            <a:ext cx="3555950" cy="204073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717155"/>
            <a:ext cx="3555950" cy="204073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2025" y="2717155"/>
            <a:ext cx="3555950" cy="20407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1635" y="3526780"/>
            <a:ext cx="224028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425" i="0" u="none">
                <a:solidFill>
                  <a:srgbClr val="0B2545"/>
                </a:solidFill>
                <a:latin typeface="Poppins"/>
              </a:rPr>
              <a:t>Data-Driven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3898255"/>
            <a:ext cx="3155900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31"/>
              </a:lnSpc>
            </a:pPr>
            <a:r>
              <a:rPr b="0" sz="1125" i="0" u="none">
                <a:solidFill>
                  <a:srgbClr val="334155"/>
                </a:solidFill>
                <a:latin typeface="Lato"/>
              </a:rPr>
              <a:t>Evaluating engagement metrics to make evidence-based decisions rather than intuitive guessing.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60721" y="3526780"/>
            <a:ext cx="2070258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425" i="0" u="none">
                <a:solidFill>
                  <a:srgbClr val="0B2545"/>
                </a:solidFill>
                <a:latin typeface="Poppins"/>
              </a:rPr>
              <a:t>Brand Voice Framing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7975" y="3898255"/>
            <a:ext cx="315590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31"/>
              </a:lnSpc>
            </a:pPr>
            <a:r>
              <a:rPr b="0" sz="1125" i="0" u="none">
                <a:solidFill>
                  <a:srgbClr val="334155"/>
                </a:solidFill>
                <a:latin typeface="Lato"/>
              </a:rPr>
              <a:t>Crafting tone, syntax, and messaging aligned with the organizational philosophy and goals.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4817" y="3526780"/>
            <a:ext cx="1750218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425" i="0" u="none">
                <a:solidFill>
                  <a:srgbClr val="0B2545"/>
                </a:solidFill>
                <a:latin typeface="Poppins"/>
              </a:rPr>
              <a:t>Campaign Agility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2050" y="3898255"/>
            <a:ext cx="315590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31"/>
              </a:lnSpc>
            </a:pPr>
            <a:r>
              <a:rPr b="0" sz="1125" i="0" u="none">
                <a:solidFill>
                  <a:srgbClr val="334155"/>
                </a:solidFill>
                <a:latin typeface="Lato"/>
              </a:rPr>
              <a:t>Adapting strategies swiftly in response to trending online narratives and industry shifts.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6988" y="3002905"/>
            <a:ext cx="409575" cy="3619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4876" y="3002905"/>
            <a:ext cx="361950" cy="3619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61326" y="3002905"/>
            <a:ext cx="457200" cy="3619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6275" y="428625"/>
            <a:ext cx="11515725" cy="38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B2545"/>
                </a:solidFill>
                <a:latin typeface="Poppins"/>
              </a:rPr>
              <a:t>Competencies &amp; Skill Acquisition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3875" y="428625"/>
            <a:ext cx="57150" cy="388590"/>
          </a:xfrm>
          <a:prstGeom prst="rect">
            <a:avLst/>
          </a:prstGeom>
          <a:solidFill>
            <a:srgbClr val="134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880145"/>
            <a:ext cx="4914007" cy="3714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1257" y="2036564"/>
            <a:ext cx="5896719" cy="340191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1889670"/>
            <a:ext cx="4894957" cy="3695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47482" y="2646164"/>
            <a:ext cx="561148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B2545"/>
                </a:solidFill>
                <a:latin typeface="Poppins"/>
              </a:rPr>
              <a:t>Credentials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47482" y="3122414"/>
            <a:ext cx="5344269" cy="2347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Candidate: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Shivansh Srivastav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47482" y="3519041"/>
            <a:ext cx="5344269" cy="2347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Assigned Role: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Social Media Manager / Intern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47482" y="3915667"/>
            <a:ext cx="5344269" cy="2347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Issuing Organization: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Fokuszy (Fokuszy.in)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47482" y="4312294"/>
            <a:ext cx="5344269" cy="2347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Signatories: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Kashish Panday (HR) &amp; Manish Bhatt (General Manager)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47482" y="4680346"/>
            <a:ext cx="534426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64748B"/>
                </a:solidFill>
                <a:latin typeface="Lato"/>
              </a:rPr>
              <a:t>The original certificate is embedded above as documented evidence of the successful completion of the prescribed internship program.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7482" y="2274689"/>
            <a:ext cx="137160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3382" y="2274689"/>
            <a:ext cx="1724025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1782" y="2327076"/>
            <a:ext cx="123825" cy="1238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47682" y="2327076"/>
            <a:ext cx="104775" cy="1238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6275" y="428625"/>
            <a:ext cx="11515725" cy="38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B2545"/>
                </a:solidFill>
                <a:latin typeface="Poppins"/>
              </a:rPr>
              <a:t>Certificate of Completion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3875" y="428625"/>
            <a:ext cx="57150" cy="388590"/>
          </a:xfrm>
          <a:prstGeom prst="rect">
            <a:avLst/>
          </a:prstGeom>
          <a:solidFill>
            <a:srgbClr val="134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572791"/>
            <a:ext cx="5429250" cy="232945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572791"/>
            <a:ext cx="5429250" cy="23294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6325" y="2868066"/>
            <a:ext cx="4810601" cy="314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134E5E"/>
                </a:solidFill>
                <a:latin typeface="Poppins"/>
              </a:rPr>
              <a:t>Academic &amp; Career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" y="3344316"/>
            <a:ext cx="4838700" cy="4694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The tenure at Fokuszy bridged academic theoretical understanding with actual corporate digital management execution.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3975645"/>
            <a:ext cx="4838700" cy="4694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Direct exposure to content workflows, deadline compliance, and executive evaluations built solid industry readiness.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2750" y="2868066"/>
            <a:ext cx="4840605" cy="314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134E5E"/>
                </a:solidFill>
                <a:latin typeface="Poppins"/>
              </a:rPr>
              <a:t>Future 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3344316"/>
            <a:ext cx="4838700" cy="4694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Applying automated analytics dashboards and programmatic content funnels to future projects.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3975645"/>
            <a:ext cx="4838700" cy="4694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Leveraging learnings from brand strategy to complement core software engineering and technical design initiatives.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2920454"/>
            <a:ext cx="161925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2920454"/>
            <a:ext cx="133350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6275" y="428625"/>
            <a:ext cx="11515725" cy="38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B2545"/>
                </a:solidFill>
                <a:latin typeface="Poppins"/>
              </a:rPr>
              <a:t>Conclusion &amp; Forward Roadmap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3875" y="428625"/>
            <a:ext cx="57150" cy="388590"/>
          </a:xfrm>
          <a:prstGeom prst="rect">
            <a:avLst/>
          </a:prstGeom>
          <a:solidFill>
            <a:srgbClr val="134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1937" y="428625"/>
            <a:ext cx="11668125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350" i="0" u="none">
                <a:solidFill>
                  <a:srgbClr val="0B2545"/>
                </a:solidFill>
                <a:latin typeface="Poppin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3875" y="1466850"/>
            <a:ext cx="11144250" cy="3037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92"/>
              </a:lnSpc>
            </a:pPr>
            <a:r>
              <a:rPr b="0" sz="1650" i="0" u="none">
                <a:solidFill>
                  <a:srgbClr val="475569"/>
                </a:solidFill>
                <a:latin typeface="Lato"/>
              </a:rPr>
              <a:t>I welcome any questions, observations, or feedback from the faculty committee.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7550" y="2313533"/>
            <a:ext cx="5676900" cy="4476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300" y="2465933"/>
            <a:ext cx="13335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7325" y="2465933"/>
            <a:ext cx="1524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0850" y="2465933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76375" y="2970758"/>
            <a:ext cx="92392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76375" y="3732758"/>
            <a:ext cx="9239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76375" y="3732758"/>
            <a:ext cx="9239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375" y="3113633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71750" y="3127771"/>
            <a:ext cx="8143875" cy="179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https://gtc.co.za/wp-content/uploads/2022/11/team-work-process-marketing-strategy-brainstorming-paperwork-digital-modern-office-1-scaled.jpg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1750" y="3354883"/>
            <a:ext cx="8143875" cy="220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gtc.co.za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6375" y="3885158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71750" y="3899296"/>
            <a:ext cx="8143875" cy="179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https://nomadzdigital.com/blog/wp-content/uploads/2026/03/Best-Content-Creation-Tools-to-Boost-Your-Marketing-Strategy.webp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1750" y="4126408"/>
            <a:ext cx="8143875" cy="220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nomadzdigital.com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275" y="428625"/>
            <a:ext cx="11515725" cy="38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B2545"/>
                </a:solidFill>
                <a:latin typeface="Poppins"/>
              </a:rPr>
              <a:t>Image Sources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3875" y="428625"/>
            <a:ext cx="57150" cy="388590"/>
          </a:xfrm>
          <a:prstGeom prst="rect">
            <a:avLst/>
          </a:prstGeom>
          <a:solidFill>
            <a:srgbClr val="134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